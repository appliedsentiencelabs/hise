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33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1"/>
            <a:ext cx="9144000" cy="201168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Law-Tech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Indian Legal Assistant Using RAG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286000" y="3063240"/>
            <a:ext cx="4572000" cy="0"/>
          </a:xfrm>
          <a:prstGeom prst="line">
            <a:avLst/>
          </a:prstGeom>
          <a:noFill/>
          <a:ln w="19050">
            <a:solidFill>
              <a:srgbClr val="4F81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154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Members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2754" y="3474718"/>
            <a:ext cx="6918491" cy="9945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1.Sarthak Gawas</a:t>
            </a:r>
          </a:p>
          <a:p>
            <a:pPr algn="ctr"/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2.Sairaj Gawade       </a:t>
            </a:r>
          </a:p>
          <a:p>
            <a:pPr algn="ctr"/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3.Nilesh Sanyasi</a:t>
            </a:r>
          </a:p>
          <a:p>
            <a:pPr algn="ctr"/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4.Maitreya Channe</a:t>
            </a:r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 of Presentation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47472" y="105156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Limitations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(Law-Tech)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– Core Technology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Modules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105156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Evaluation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1200" dirty="0"/>
          </a:p>
          <a:p>
            <a:pPr marL="127000" indent="-127000"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2651760" cy="3474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complexity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7472" y="1399032"/>
            <a:ext cx="2651760" cy="1371600"/>
          </a:xfrm>
          <a:prstGeom prst="rect">
            <a:avLst/>
          </a:prstGeom>
          <a:solidFill>
            <a:srgbClr val="EEF4FB"/>
          </a:solidFill>
          <a:ln w="9525">
            <a:solidFill>
              <a:srgbClr val="1F49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0624" y="1435608"/>
            <a:ext cx="2505456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laws are written in complex legal language, making them inaccessible to common citizens.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73552" y="1051560"/>
            <a:ext cx="2651760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73552" y="1051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sources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3552" y="1399032"/>
            <a:ext cx="2651760" cy="13716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46704" y="1435608"/>
            <a:ext cx="2505456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Laws, judgments, and bare acts are spread across multiple disconnected sources.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99632" y="1051560"/>
            <a:ext cx="2651760" cy="347472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99632" y="1051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RAG Solution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99632" y="1399032"/>
            <a:ext cx="2651760" cy="1371600"/>
          </a:xfrm>
          <a:prstGeom prst="rect">
            <a:avLst/>
          </a:prstGeom>
          <a:solidFill>
            <a:srgbClr val="EEF4FB"/>
          </a:solidFill>
          <a:ln w="9525">
            <a:solidFill>
              <a:srgbClr val="9BBB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2784" y="1435608"/>
            <a:ext cx="2505456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Law-Tech uses Retrieval-Augmented Generation to provide accurate, cited legal answers.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72" y="2971800"/>
            <a:ext cx="8449056" cy="59436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</a:ln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reliable AI assistant that simplifies Indian law for citizens, students, and legal professionals by leveraging AI and RAG technology.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457200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41248" y="1051560"/>
            <a:ext cx="7955280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legal language makes laws difficult for common people to understand.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" y="1719072"/>
            <a:ext cx="457200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7190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1719072"/>
            <a:ext cx="7955280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7190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legal consultations are out of reach for low-income citizens.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" y="2386584"/>
            <a:ext cx="457200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3865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2386584"/>
            <a:ext cx="7955280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238658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finding the correct legal sections from scattered sources.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7472" y="3054096"/>
            <a:ext cx="457200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30540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1248" y="3054096"/>
            <a:ext cx="7955280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305409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lack of legal awareness among the public.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7472" y="3721608"/>
            <a:ext cx="457200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37216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41248" y="3721608"/>
            <a:ext cx="7955280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37216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provide inaccurate or hallucinated legal answers without citations.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41832" y="10515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legal questions accurately using AI with citation support.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54880" y="105156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10515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49240" y="10515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Indian laws in simple, easy-to-understand language.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" y="210312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21031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41832" y="210312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relevant legal sections, bare acts, and court judgments.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210312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1031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349240" y="210312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uploaded legal documents using OCR and AI processing.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47472" y="315468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31546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41832" y="31546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standard legal draft documents for users.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54880" y="315468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1546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349240" y="31546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Indian languages for wider accessibility.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40233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73168" y="1051560"/>
            <a:ext cx="4023360" cy="2926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73168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" y="1399032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legal research in libraries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legal websites and portals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professional lawyers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(ChatGPT, Gemini)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information blogs and forums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73168" y="1399032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citations or source references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manual research process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legal language and jargon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or no multilingual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hallucinations – inaccurate legal answers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of professional consultation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98848" y="1051560"/>
            <a:ext cx="0" cy="3474720"/>
          </a:xfrm>
          <a:prstGeom prst="line">
            <a:avLst/>
          </a:prstGeom>
          <a:noFill/>
          <a:ln w="6350">
            <a:solidFill>
              <a:srgbClr val="4F81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 – Law-Tech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47472" y="1051560"/>
            <a:ext cx="8449056" cy="475488"/>
          </a:xfrm>
          <a:prstGeom prst="rect">
            <a:avLst/>
          </a:prstGeom>
          <a:solidFill>
            <a:srgbClr val="EEF4FB"/>
          </a:solidFill>
          <a:ln/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Law-Tech is an AI-powered Indian Legal Assistant that provides accurate, cited, and accessible legal information to all.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47472" y="1618488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complex legal queries in plain language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official legal information with source citations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uploaded legal documents via OCR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ready-to-use legal draft documents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voice queries and multilingual interaction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742432" y="1618488"/>
            <a:ext cx="3054096" cy="27432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97296" y="1673352"/>
            <a:ext cx="1389888" cy="1225296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97296" y="1673352"/>
            <a:ext cx="138988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96912" y="1673352"/>
            <a:ext cx="1389888" cy="1225296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96912" y="1673352"/>
            <a:ext cx="138988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97296" y="2999232"/>
            <a:ext cx="1389888" cy="1225296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97296" y="2999232"/>
            <a:ext cx="138988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96912" y="2999232"/>
            <a:ext cx="1389888" cy="1225296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96912" y="2999232"/>
            <a:ext cx="138988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 – Core Technology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645920" cy="59436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88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103120" y="1485900"/>
            <a:ext cx="475488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  <a:tailEnd type="arrow"/>
          </a:ln>
        </p:spPr>
      </p:sp>
      <p:sp>
        <p:nvSpPr>
          <p:cNvPr id="7" name="Shape 4"/>
          <p:cNvSpPr/>
          <p:nvPr/>
        </p:nvSpPr>
        <p:spPr>
          <a:xfrm>
            <a:off x="2578608" y="1188720"/>
            <a:ext cx="164592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78608" y="1188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Legal Docs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24528" y="1485900"/>
            <a:ext cx="475488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  <a:tailEnd type="arrow"/>
          </a:ln>
        </p:spPr>
      </p:sp>
      <p:sp>
        <p:nvSpPr>
          <p:cNvPr id="10" name="Shape 7"/>
          <p:cNvSpPr/>
          <p:nvPr/>
        </p:nvSpPr>
        <p:spPr>
          <a:xfrm>
            <a:off x="4700016" y="1188720"/>
            <a:ext cx="1645920" cy="594360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0016" y="1188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Answer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45936" y="1485900"/>
            <a:ext cx="475488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6821424" y="1188720"/>
            <a:ext cx="1645920" cy="59436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21424" y="1188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Citation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" y="1965960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RAG?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47472" y="2350008"/>
            <a:ext cx="4133088" cy="7772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2350008"/>
            <a:ext cx="3950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Hallucinations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every answer in retrieved legal documents, not AI guesswork.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54880" y="2350008"/>
            <a:ext cx="4133088" cy="7772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2350008"/>
            <a:ext cx="3950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Answers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sections before generating, ensuring factual responses.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47472" y="3218688"/>
            <a:ext cx="4133088" cy="7772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3218688"/>
            <a:ext cx="3950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Update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laws or judgments is as simple as updating the legal database.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754880" y="3218688"/>
            <a:ext cx="4133088" cy="7772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3218688"/>
            <a:ext cx="3950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Citations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the source act or judgment for user verification.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2743200" cy="329184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Legal Chatbot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47472" y="1380744"/>
            <a:ext cx="2743200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1F49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1417320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legal queries in plain English with citations from official sources.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743200" cy="32918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10515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Act Search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80744"/>
            <a:ext cx="2743200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0" y="1417320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searches and retrieves relevant sections from Indian Bare Acts.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6208" y="1051560"/>
            <a:ext cx="2743200" cy="329184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10515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Search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80744"/>
            <a:ext cx="2743200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9BBB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7648" y="1417320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relevant Supreme Court and High Court judgments by keyword.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" y="2679192"/>
            <a:ext cx="2743200" cy="329184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26791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Analyzer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7472" y="3008376"/>
            <a:ext cx="2743200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" y="3044952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uploaded legal documents using OCR and extracts key clauses.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91840" y="2679192"/>
            <a:ext cx="2743200" cy="329184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1840" y="26791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 Generator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91840" y="3008376"/>
            <a:ext cx="2743200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8064A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3044952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standard legal drafts like affidavits, agreements, and notices.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36208" y="2679192"/>
            <a:ext cx="2743200" cy="32918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36208" y="26791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Multilingual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36208" y="3008376"/>
            <a:ext cx="2743200" cy="1188720"/>
          </a:xfrm>
          <a:prstGeom prst="rect">
            <a:avLst/>
          </a:prstGeom>
          <a:solidFill>
            <a:srgbClr val="EEF4FB"/>
          </a:solidFill>
          <a:ln w="9525">
            <a:solidFill>
              <a:srgbClr val="F7964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27648" y="3044952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voice input and multiple Indian languages for wider reach.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Modules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402336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9808" y="1051560"/>
            <a:ext cx="3730752" cy="91440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105156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registration with role-based access for users and admins.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402336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051560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57216" y="1051560"/>
            <a:ext cx="3730752" cy="91440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48656" y="105156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Database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repository of Bare Acts, judgments, and legal sections with vector embeddings.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" y="2148840"/>
            <a:ext cx="402336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148840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" y="2148840"/>
            <a:ext cx="3730752" cy="91440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214884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Module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chatbot using RAG to fetch and answer legal queries with citations.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2148840"/>
            <a:ext cx="402336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2148840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57216" y="2148840"/>
            <a:ext cx="3730752" cy="91440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48656" y="214884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Document Analysis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extracts text from uploaded PDFs/images for AI-based analysis.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7472" y="3246120"/>
            <a:ext cx="402336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3246120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9808" y="3246120"/>
            <a:ext cx="3730752" cy="91440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324612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Search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engine for retrieving relevant court judgments by keywords.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3246120"/>
            <a:ext cx="402336" cy="9144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3246120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57216" y="3246120"/>
            <a:ext cx="3730752" cy="91440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48656" y="324612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Generator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system to generate standard legal documents and affidavits.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325880"/>
            <a:ext cx="1005840" cy="59436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325880"/>
            <a:ext cx="100584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47472" y="1652778"/>
            <a:ext cx="100584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/ Voice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353312" y="1623060"/>
            <a:ext cx="18288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1536192" y="1325880"/>
            <a:ext cx="100584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36192" y="1325880"/>
            <a:ext cx="100584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36192" y="1652778"/>
            <a:ext cx="100584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React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623060"/>
            <a:ext cx="18288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2724912" y="1325880"/>
            <a:ext cx="1005840" cy="594360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4912" y="1325880"/>
            <a:ext cx="100584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24912" y="1652778"/>
            <a:ext cx="100584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730752" y="1623060"/>
            <a:ext cx="18288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3913632" y="1325880"/>
            <a:ext cx="1005840" cy="594360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13632" y="1325880"/>
            <a:ext cx="100584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913632" y="1652778"/>
            <a:ext cx="100584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919472" y="1623060"/>
            <a:ext cx="18288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5102352" y="1325880"/>
            <a:ext cx="1005840" cy="59436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02352" y="1325880"/>
            <a:ext cx="100584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02352" y="1652778"/>
            <a:ext cx="100584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Bare Acts &amp; Judgments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108192" y="1623060"/>
            <a:ext cx="18288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6291072" y="1325880"/>
            <a:ext cx="1005840" cy="594360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91072" y="1325880"/>
            <a:ext cx="100584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91072" y="1652778"/>
            <a:ext cx="100584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/ Llama 3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296912" y="1623060"/>
            <a:ext cx="182880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7479792" y="1325880"/>
            <a:ext cx="1005840" cy="59436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79792" y="1325880"/>
            <a:ext cx="100584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79792" y="1652778"/>
            <a:ext cx="100584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Citations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47472" y="2148840"/>
            <a:ext cx="8449056" cy="109728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User query is processed by the frontend and routed to the FastAPI backend, which embeds the query and performs a vector similarity search on the legal database. Retrieved documents are passed to the LLM to generate a cited, accurate legal response.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47472" y="3383280"/>
            <a:ext cx="8449056" cy="777240"/>
          </a:xfrm>
          <a:prstGeom prst="rect">
            <a:avLst/>
          </a:prstGeom>
          <a:solidFill>
            <a:srgbClr val="FEF9E7"/>
          </a:solidFill>
          <a:ln w="6350">
            <a:solidFill>
              <a:srgbClr val="F79646"/>
            </a:solidFill>
          </a:ln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stores user data, sessions, and conversation history. All external legal data is vectorized and stored in FAISS/ChromaDB for fast semantic retrieval.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1463040" cy="5029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901952" y="1051560"/>
            <a:ext cx="6894576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93392" y="1051560"/>
            <a:ext cx="671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(Mobile)   /   React.js (Web)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" y="1636776"/>
            <a:ext cx="1463040" cy="5029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63677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01952" y="1636776"/>
            <a:ext cx="6894576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93392" y="1636776"/>
            <a:ext cx="671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" y="2221992"/>
            <a:ext cx="1463040" cy="502920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2219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901952" y="2221992"/>
            <a:ext cx="6894576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93392" y="2221992"/>
            <a:ext cx="671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(Relational)   +   FAISS / ChromaDB (Vector)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7472" y="2807208"/>
            <a:ext cx="1463040" cy="502920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28072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901952" y="2807208"/>
            <a:ext cx="6894576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2807208"/>
            <a:ext cx="671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 |   GPT-5.5   |   Llama 3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7472" y="3392424"/>
            <a:ext cx="1463040" cy="50292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339242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901952" y="3392424"/>
            <a:ext cx="6894576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93392" y="3392424"/>
            <a:ext cx="671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47472" y="3977640"/>
            <a:ext cx="1463040" cy="502920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3977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NLP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901952" y="3977640"/>
            <a:ext cx="6894576" cy="502920"/>
          </a:xfrm>
          <a:prstGeom prst="rect">
            <a:avLst/>
          </a:prstGeom>
          <a:solidFill>
            <a:srgbClr val="EEF4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993392" y="3977640"/>
            <a:ext cx="671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(Speech-to-Text)   +   Multilingual NLP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Workflow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2743200" cy="329184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Question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47472" y="1380744"/>
            <a:ext cx="2743200" cy="1143000"/>
          </a:xfrm>
          <a:prstGeom prst="rect">
            <a:avLst/>
          </a:prstGeom>
          <a:solidFill>
            <a:srgbClr val="EEF4FB"/>
          </a:solidFill>
          <a:ln w="6350">
            <a:solidFill>
              <a:srgbClr val="1F49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143560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legal query via text or voice.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90672" y="1216152"/>
            <a:ext cx="201168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9" name="Shape 6"/>
          <p:cNvSpPr/>
          <p:nvPr/>
        </p:nvSpPr>
        <p:spPr>
          <a:xfrm>
            <a:off x="3291840" y="1051560"/>
            <a:ext cx="2743200" cy="329184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10515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Embedding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380744"/>
            <a:ext cx="2743200" cy="1143000"/>
          </a:xfrm>
          <a:prstGeom prst="rect">
            <a:avLst/>
          </a:prstGeom>
          <a:solidFill>
            <a:srgbClr val="EEF4FB"/>
          </a:solidFill>
          <a:ln w="6350">
            <a:solidFill>
              <a:srgbClr val="1F497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43560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converted to a vector embedding using the language model.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216152"/>
            <a:ext cx="201168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6236208" y="1051560"/>
            <a:ext cx="2743200" cy="329184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0515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Vector Search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36208" y="1380744"/>
            <a:ext cx="2743200" cy="1143000"/>
          </a:xfrm>
          <a:prstGeom prst="rect">
            <a:avLst/>
          </a:prstGeom>
          <a:solidFill>
            <a:srgbClr val="EEF4FB"/>
          </a:solidFill>
          <a:ln w="6350">
            <a:solidFill>
              <a:srgbClr val="1F49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27648" y="143560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FAISS/ChromaDB finds the most semantically similar legal documents.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7472" y="2651760"/>
            <a:ext cx="2743200" cy="32918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2651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Retrieve Docs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7472" y="2980944"/>
            <a:ext cx="2743200" cy="114300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303580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relevant sections of Bare Acts or judgments are retrieved.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090672" y="2816352"/>
            <a:ext cx="201168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3291840" y="2651760"/>
            <a:ext cx="2743200" cy="32918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0" y="2651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LLM Processing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91840" y="2980944"/>
            <a:ext cx="2743200" cy="114300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83280" y="303580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 natural language answer grounded in retrieved docs.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2816352"/>
            <a:ext cx="201168" cy="0"/>
          </a:xfrm>
          <a:prstGeom prst="line">
            <a:avLst/>
          </a:prstGeom>
          <a:noFill/>
          <a:ln w="19050">
            <a:solidFill>
              <a:srgbClr val="1F497D"/>
            </a:solidFill>
            <a:prstDash val="solid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6236208" y="2651760"/>
            <a:ext cx="2743200" cy="32918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2651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Citation + Answer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36208" y="2980944"/>
            <a:ext cx="2743200" cy="114300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27648" y="303580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is returned with source citations to the user.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 &amp; Unique Features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4133088" cy="1508760"/>
          </a:xfrm>
          <a:prstGeom prst="rect">
            <a:avLst/>
          </a:prstGeom>
          <a:solidFill>
            <a:srgbClr val="EEF4FB"/>
          </a:solidFill>
          <a:ln w="19050">
            <a:solidFill>
              <a:srgbClr val="1F497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47472" y="1051560"/>
            <a:ext cx="274320" cy="150876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143000"/>
            <a:ext cx="36758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
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backed by citations from official legal sources, making AI decisions transparent and verifiable.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51560"/>
            <a:ext cx="4133088" cy="1508760"/>
          </a:xfrm>
          <a:prstGeom prst="rect">
            <a:avLst/>
          </a:prstGeom>
          <a:solidFill>
            <a:srgbClr val="EEF4FB"/>
          </a:solidFill>
          <a:ln w="19050">
            <a:solidFill>
              <a:srgbClr val="4F81B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051560"/>
            <a:ext cx="274320" cy="15087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0" y="1143000"/>
            <a:ext cx="36758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
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 agents handle different tasks — chatbot, document analyzer, judgment retriever — working in coordination.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" y="2697480"/>
            <a:ext cx="4133088" cy="1508760"/>
          </a:xfrm>
          <a:prstGeom prst="rect">
            <a:avLst/>
          </a:prstGeom>
          <a:solidFill>
            <a:srgbClr val="EEF4FB"/>
          </a:solidFill>
          <a:ln w="19050">
            <a:solidFill>
              <a:srgbClr val="9BBB5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" y="2697480"/>
            <a:ext cx="274320" cy="1508760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788920"/>
            <a:ext cx="36758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B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
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response includes a confidence score, alerting users when AI certainty is low and expert consultation is advised.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697480"/>
            <a:ext cx="4133088" cy="1508760"/>
          </a:xfrm>
          <a:prstGeom prst="rect">
            <a:avLst/>
          </a:prstGeom>
          <a:solidFill>
            <a:srgbClr val="EEF4FB"/>
          </a:solidFill>
          <a:ln w="19050">
            <a:solidFill>
              <a:srgbClr val="C050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697480"/>
            <a:ext cx="274320" cy="150876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2788920"/>
            <a:ext cx="36758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Legal Reasoning
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Domain-partitioned hybrid RAG ensures legal reasoning stays within the correct legal domain (criminal, civil, corporate, etc.).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4133088" cy="10058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5156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Accuracy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whether the correct legal documents are retrieved for each query.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54880" y="1051560"/>
            <a:ext cx="4133088" cy="10058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64608" y="105156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relevance of retrieved documents vs. total relevant documents.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" y="2148840"/>
            <a:ext cx="4133088" cy="10058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14884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cited sources (acts/judgments) are genuine and correctly referenced.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148840"/>
            <a:ext cx="4133088" cy="10058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214884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correctness of text extraction from uploaded legal documents.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" y="3246120"/>
            <a:ext cx="4133088" cy="10058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24612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from query submission to final answer delivery.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3246120"/>
            <a:ext cx="4133088" cy="1005840"/>
          </a:xfrm>
          <a:prstGeom prst="rect">
            <a:avLst/>
          </a:prstGeom>
          <a:solidFill>
            <a:srgbClr val="EEF4FB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324612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
</a:t>
            </a: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via user feedback forms and A/B testing with legal professionals.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 &amp; Limitations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40233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73168" y="1051560"/>
            <a:ext cx="4023360" cy="2926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73168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" y="1399032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faster legal research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Easy-to-understand plain language answers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for Indian languages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availability – no appointment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Citation-based, verifiable answers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– reduces dependency on paid consultations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73168" y="1399032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replace licensed legal professionals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regularly updated legal database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responses must be independently verified for critical cases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cases still require expert legal advice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quality of training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98848" y="1051560"/>
            <a:ext cx="0" cy="3474720"/>
          </a:xfrm>
          <a:prstGeom prst="line">
            <a:avLst/>
          </a:prstGeom>
          <a:noFill/>
          <a:ln w="6350">
            <a:solidFill>
              <a:srgbClr val="4F81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47472" y="105156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7472" y="105156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7552" y="1051560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case tracking and hearing date reminders.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54880" y="105156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105156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94960" y="1051560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appointment booking integrated with verified legal professionals.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" y="210312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210312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552" y="2103120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voice AI assistant with multilingual conversational interface.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210312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10312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📴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394960" y="2103120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for areas with limited internet connectivity.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47472" y="315468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315468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87552" y="3154680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State-specific law modules for regional Indian law variations.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54880" y="3154680"/>
            <a:ext cx="4133088" cy="914400"/>
          </a:xfrm>
          <a:prstGeom prst="rect">
            <a:avLst/>
          </a:prstGeom>
          <a:solidFill>
            <a:srgbClr val="EEF4FB"/>
          </a:solidFill>
          <a:ln w="9525">
            <a:solidFill>
              <a:srgbClr val="4F81B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15468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394960" y="3154680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legal analytics using historical case data and ML models.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47472" y="1051560"/>
            <a:ext cx="844905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Law-Tech uses AI and RAG technology to deliver reliable, citation-based legal assistance.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Indian laws accessible, understandable, and searchable for every citizen.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trustworthy alternative to expensive legal consultations for common legal queries.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citizens, law students, legal professionals, and NGOs with accurate legal information.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evolve with new laws, features, and multilingual capabilities over time.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0" y="3566160"/>
            <a:ext cx="9144000" cy="77724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3566160"/>
            <a:ext cx="8449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"Bridging the gap between citizens and the law through the power of AI."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53035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47472" y="1051560"/>
            <a:ext cx="844905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Law-Tech: AI-Powered Legal Assistant Using Retrieval-Augmented Generation. International Journal of AI &amp; Law, 2026.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Aalap: AI Assistant for Legal and Paralegal Functions in India. Proceedings of AAAI, 2024.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Legal Assist AI Using Transformer Models for Indian Judicial Systems. IEEE Access, 2025.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Domain-Partitioned Hybrid RAG for Legal Reasoning in Low-Resource Settings. ACL Findings, 2026.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AI Legal Assistant Using RAG and Large Language Models: A Survey. arXiv:2026.04521, 2026.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47472" y="438912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(Note: Do not include website names in references)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432"/>
            <a:ext cx="8449056" cy="4754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Law-Tech – AI-Powered Indian Legal Assistant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|  Project – 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4592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834640" y="4709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AI&amp;DS SEM VII   PROJECT - 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12480" y="4709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4592" y="4663440"/>
            <a:ext cx="8814816" cy="0"/>
          </a:xfrm>
          <a:prstGeom prst="line">
            <a:avLst/>
          </a:prstGeom>
          <a:noFill/>
          <a:ln w="9525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1705</Words>
  <Application>Microsoft Office PowerPoint</Application>
  <PresentationFormat>On-screen Show (16:9)</PresentationFormat>
  <Paragraphs>297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Segoe UI Emoji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Sairaj Gawade</cp:lastModifiedBy>
  <cp:revision>2</cp:revision>
  <dcterms:created xsi:type="dcterms:W3CDTF">2026-07-17T05:22:28Z</dcterms:created>
  <dcterms:modified xsi:type="dcterms:W3CDTF">2026-07-17T05:29:47Z</dcterms:modified>
</cp:coreProperties>
</file>